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0096D6"/>
                </a:solidFill>
                <a:latin typeface="Calibri"/>
              </a:defRPr>
            </a:pPr>
            <a:r>
              <a:t>SRM INSTITUTE OF SCIENCE AND TECHNOLOGY</a:t>
            </a:r>
            <a:br/>
            <a:r>
              <a:t>COLLEGE OF ENGINEERING AND TECHNOLOGY | SCHOOL OF COMPUTING</a:t>
            </a:r>
            <a:br/>
            <a:r>
              <a:t>DEPARTMENT OF DATA SCIENCE AND BUSINESS SYSTEMS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QUANTITATIVE RISK ANALYTICS TOOL EXPLORATION</a:t>
            </a:r>
          </a:p>
          <a:p>
            <a:pPr>
              <a:spcAft>
                <a:spcPts val="3500"/>
              </a:spcAft>
              <a:defRPr sz="1800">
                <a:solidFill>
                  <a:srgbClr val="C8D7EB"/>
                </a:solidFill>
                <a:latin typeface="Calibri"/>
              </a:defRPr>
            </a:pPr>
            <a:r>
              <a:t>Comparative Benchmark: OpenFAIR vs. RiskLens vs. LogicManager Across 5 Core Enterprise Dimensions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Course: 21CSE449T – Risk Analytics | Academic Year: 2026–27 (ODD)</a:t>
            </a:r>
            <a:br/>
            <a:r>
              <a:t>Faculty In-Charge: Dr. V. Prasanna | Branch: B.Tech – CSE (Big Data Analytics &amp; Data Science)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D6"/>
                </a:solidFill>
                <a:latin typeface="Calibri"/>
              </a:defRPr>
            </a:pPr>
            <a:r>
              <a:t>UNIT 1 - TASK 2: TOOL EXPLORATION</a:t>
            </a:r>
          </a:p>
          <a:p>
            <a:pPr>
              <a:defRPr sz="2400" b="1">
                <a:solidFill>
                  <a:srgbClr val="0B2545"/>
                </a:solidFill>
                <a:latin typeface="Calibri"/>
              </a:defRPr>
            </a:pPr>
            <a:r>
              <a:t>Executive Context: The Paradigm Shift in Risk Quantification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Traditional Qualitative Risk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Heatmaps &amp; High/Med/Low Scales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Subjective Scoring: Relies on opinion-based ordinal scales (e.g., 'Likelihood 4 × Impact 4').</a:t>
            </a:r>
            <a:br/>
            <a:r>
              <a:t>• The 'Flaw of Averages': Obscures tail risks and compound exposure scenarios.</a:t>
            </a:r>
            <a:br/>
            <a:r>
              <a:t>• Inactionable for CFOs: Boards cannot allocate millions in cyber capital based on 'yellow' or 'amber' colors.</a:t>
            </a:r>
            <a:br/>
            <a:r>
              <a:t>• Incomparable Portfolios: Fails to correlate disparate threat communities across operational divisions.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Quantitative Cyber Risk (CRQ)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FAIR Standard &amp; Probabilistic Models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Factor Analysis of Information Risk: The only international standard (Open Group) for value-at-risk modeling.</a:t>
            </a:r>
            <a:br/>
            <a:r>
              <a:t>• Probabilistic Monte Carlo: Simulates tens of thousands of loss events per year to derive Loss Exceedance Curves (LEC).</a:t>
            </a:r>
            <a:br/>
            <a:r>
              <a:t>• Financial Loss Metrics: Outputs Expected Annual Loss (ALE), Value at Risk (VaR), and probable maximum loss (PML) in currency.</a:t>
            </a:r>
            <a:br/>
            <a:r>
              <a:t>• Defensible ROI: Enables precise cost-benefit calculation for cybersecurity and insurance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Enterprise Scope: Tool Spectrum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From Open Scripting to Full GRC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Open-Source FAIR (pyfair, OpenFAIR): Pure quantitative algorithms, high practitioner control, zero software licensing fees.</a:t>
            </a:r>
            <a:br/>
            <a:r>
              <a:t>• Commercial FAIR (RiskLens / RSA Archer CRQ): Enterprise SaaS, automated data ingestion, pre-calibrated loss tables, board dashboards.</a:t>
            </a:r>
            <a:br/>
            <a:r>
              <a:t>• Integrated ERM (LogicManager): Full-spectrum GRC, qualitative controls, regulatory mapping, ERM operational taxonomy.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D6"/>
                </a:solidFill>
                <a:latin typeface="Calibri"/>
              </a:defRPr>
            </a:pPr>
            <a:r>
              <a:t>UNIT 1 - TASK 2: TOOL EXPLORATION</a:t>
            </a:r>
          </a:p>
          <a:p>
            <a:pPr>
              <a:defRPr sz="2400" b="1">
                <a:solidFill>
                  <a:srgbClr val="0B2545"/>
                </a:solidFill>
                <a:latin typeface="Calibri"/>
              </a:defRPr>
            </a:pPr>
            <a:r>
              <a:t>Contender Profiles: The Evaluated Risk Analytics Platforms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OpenFAIR (Open-Source)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Standard by The Open Group / pyfair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Platform Type: Open-source computational framework and taxonomy standard.</a:t>
            </a:r>
            <a:br/>
            <a:r>
              <a:t>• Underlying Tech: Python (`pyfair`), R (`Evaluate-Core`), Excel/Jupyter.</a:t>
            </a:r>
            <a:br/>
            <a:r>
              <a:t>• Primary Focus: Cyber &amp; operational risk quantification via Monte Carlo simulation.</a:t>
            </a:r>
            <a:br/>
            <a:r>
              <a:t>• Target Audience: Data scientists, risk modelers, academic researchers, and boutique consultancies.</a:t>
            </a:r>
            <a:br/>
            <a:r>
              <a:t>• Key Strengths: 100% transparent code, no vendor lock-in, infinite customization.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RiskLens (Commercial CRQ)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Industry Leader in FAIR SaaS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Platform Type: Enterprise SaaS platform built by the creators of FAIR.</a:t>
            </a:r>
            <a:br/>
            <a:r>
              <a:t>• Underlying Tech: Proprietary cloud simulation engine with API connectors.</a:t>
            </a:r>
            <a:br/>
            <a:r>
              <a:t>• Primary Focus: Financial cyber risk quantification and executive decision support.</a:t>
            </a:r>
            <a:br/>
            <a:r>
              <a:t>• Target Audience: CISOs, CROs, Fortune 500 enterprises, and financial institutions.</a:t>
            </a:r>
            <a:br/>
            <a:r>
              <a:t>• Key Strengths: Pre-packaged threat tables, benchmark loss data, C-suite reporting, automated triage.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LogicManager (Integrated ERM)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Leading Enterprise GRC &amp; Risk Software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Platform Type: Enterprise Governance, Risk, and Compliance (GRC) platform.</a:t>
            </a:r>
            <a:br/>
            <a:r>
              <a:t>• Underlying Tech: Relational SaaS platform with risk-taxonomy cross-mapping.</a:t>
            </a:r>
            <a:br/>
            <a:r>
              <a:t>• Primary Focus: Holistic ERM, operational risk registers, audit, and regulatory compliance.</a:t>
            </a:r>
            <a:br/>
            <a:r>
              <a:t>• Target Audience: Chief Compliance Officers, ERM directors, and internal audit teams.</a:t>
            </a:r>
            <a:br/>
            <a:r>
              <a:t>• Key Strengths: Pre-built compliance frameworks (SOX, HIPAA, ISO), drag-and-drop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D6"/>
                </a:solidFill>
                <a:latin typeface="Calibri"/>
              </a:defRPr>
            </a:pPr>
            <a:r>
              <a:t>UNIT 1 - TASK 2: TOOL EXPLORATION</a:t>
            </a:r>
          </a:p>
          <a:p>
            <a:pPr>
              <a:defRPr sz="2400" b="1">
                <a:solidFill>
                  <a:srgbClr val="0B2545"/>
                </a:solidFill>
                <a:latin typeface="Calibri"/>
              </a:defRPr>
            </a:pPr>
            <a:r>
              <a:t>Evaluation Parameter 1: Total Cost of Ownership (TCO) &amp; Licensing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OpenFAIR (Open-Source)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TCO: Low Software / High Human Capital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License Fee: $0 (GNU GPL / Apache 2.0 / Open Group Open Access).</a:t>
            </a:r>
            <a:br/>
            <a:r>
              <a:t>• Infrastructure Cost: Negligible ($0-$5k for internal servers or Jupyterhub).</a:t>
            </a:r>
            <a:br/>
            <a:r>
              <a:t>• Hidden Implementation Costs: Requires senior data scientists / quantitative analysts ($120k-$180k/yr).</a:t>
            </a:r>
            <a:br/>
            <a:r>
              <a:t>• Maintenance: Manual code patching, pipeline debugging, and internal script upkeep.</a:t>
            </a:r>
            <a:br/>
            <a:r>
              <a:t>• Verdict: Ideal for budget-constrained teams with strong quantitative Python/R engineering skills.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RiskLens (Commercial CRQ)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TCO: High SaaS / Rapid Value Delivery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License Fee: Premium Enterprise SaaS ($50k - $250k+ annually depending on modules/assets).</a:t>
            </a:r>
            <a:br/>
            <a:r>
              <a:t>• Implementation: $20k - $60k onboarding &amp; FAIR academy professional services.</a:t>
            </a:r>
            <a:br/>
            <a:r>
              <a:t>• Infrastructure: 0 (Managed Cloud SaaS with high availability).</a:t>
            </a:r>
            <a:br/>
            <a:r>
              <a:t>• Operational Efficiency: Pre-calibrated industry data reduces analysis time from weeks to hours.</a:t>
            </a:r>
            <a:br/>
            <a:r>
              <a:t>• Verdict: Justified for large enterprises where a single cyber capital decision exceeds $2M.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LogicManager (ERM Platform)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TCO: Moderate to High SaaS / Broad Utility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License Fee: Subscription based on user tiers ($25k - $120k annually).</a:t>
            </a:r>
            <a:br/>
            <a:r>
              <a:t>• Unlimited User Model: Many plans offer unlimited end-user survey and incident loggers.</a:t>
            </a:r>
            <a:br/>
            <a:r>
              <a:t>• Implementation: $15k - $40k for workflow configuration and taxonomy setup.</a:t>
            </a:r>
            <a:br/>
            <a:r>
              <a:t>• Multi-Department Amortization: Cost is shared across Audit, Compliance, Legal, and IT.</a:t>
            </a:r>
            <a:br/>
            <a:r>
              <a:t>• Verdict: High cost-efficiency if replacing multiple standalone GRC point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D6"/>
                </a:solidFill>
                <a:latin typeface="Calibri"/>
              </a:defRPr>
            </a:pPr>
            <a:r>
              <a:t>UNIT 1 - TASK 2: TOOL EXPLORATION</a:t>
            </a:r>
          </a:p>
          <a:p>
            <a:pPr>
              <a:defRPr sz="2400" b="1">
                <a:solidFill>
                  <a:srgbClr val="0B2545"/>
                </a:solidFill>
                <a:latin typeface="Calibri"/>
              </a:defRPr>
            </a:pPr>
            <a:r>
              <a:t>Evaluation Parameter 2: Features &amp; Quantitative Modeling Depth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OpenFAIR (Open-Source)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Mathematical Purity &amp; Flexibility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Core Math Engine: Monte Carlo simulations (Beta-PERT, log-normal, triangular distributions).</a:t>
            </a:r>
            <a:br/>
            <a:r>
              <a:t>• Modeling Granularity: Full access to Loss Event Frequency (LEF) and Loss Magnitude (LM) formulas.</a:t>
            </a:r>
            <a:br/>
            <a:r>
              <a:t>• Custom Distributions: Practitioners can implement any statistical copula or custom fat-tailed loss model.</a:t>
            </a:r>
            <a:br/>
            <a:r>
              <a:t>• Weaknesses: No out-of-the-box asset inventory, no automated questionnaire engine, command-line only.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RiskLens (Commercial CRQ)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Specialized CRQ &amp; Loss Calibration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FAIR Enterprise Model: Proprietary algorithms expanding the standard FAIR ontology.</a:t>
            </a:r>
            <a:br/>
            <a:r>
              <a:t>• Cyber Risk Triage: Rapid screening to identify high-exposure assets in minutes.</a:t>
            </a:r>
            <a:br/>
            <a:r>
              <a:t>• Benchmark Loss Library: Built-in empirical cost tables for ransomware payouts, records breaches, and business interruption.</a:t>
            </a:r>
            <a:br/>
            <a:r>
              <a:t>• Scenario Comparison: Side-by-side simulation of control investments (e.g., EDR vs. MFA impact on ALE).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LogicManager (ERM Platform)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Qualitative Breadth &amp; Workflow Automation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Taxonomy Interconnectedness: Connects risks across vendors, regulations, business processes, and incidents.</a:t>
            </a:r>
            <a:br/>
            <a:r>
              <a:t>• Automated Assessment: Survey workflows, automated reminders, and root cause analysis.</a:t>
            </a:r>
            <a:br/>
            <a:r>
              <a:t>• Quantitative Limitations: Primarily relies on qualitative / semi-quantitative matrices; lacks native Monte Carlo engines.</a:t>
            </a:r>
            <a:br/>
            <a:r>
              <a:t>• Incident Management: Real-time logging of operational loss events and remediation ticketing.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D6"/>
                </a:solidFill>
                <a:latin typeface="Calibri"/>
              </a:defRPr>
            </a:pPr>
            <a:r>
              <a:t>UNIT 1 - TASK 2: TOOL EXPLORATION</a:t>
            </a:r>
          </a:p>
          <a:p>
            <a:pPr>
              <a:defRPr sz="2400" b="1">
                <a:solidFill>
                  <a:srgbClr val="0B2545"/>
                </a:solidFill>
                <a:latin typeface="Calibri"/>
              </a:defRPr>
            </a:pPr>
            <a:r>
              <a:t>Evaluation Parameter 3: Architecture, Scalability &amp; Integrations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OpenFAIR (Open-Source)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Local Workstation to HPC Scripts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Execution Architecture: Client-side Python/R script or Jupyter Notebook runtime.</a:t>
            </a:r>
            <a:br/>
            <a:r>
              <a:t>• Computational Scale: High simulation throughput when executed on multicore CPUs or GPU clusters.</a:t>
            </a:r>
            <a:br/>
            <a:r>
              <a:t>• Enterprise Scalability: Poor; lacks multi-tenant user access controls, role-based security, and database concurrency.</a:t>
            </a:r>
            <a:br/>
            <a:r>
              <a:t>• System Integrations: Requires custom-built REST APIs and ETL pipelines to connect with CMDB or SIEM.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RiskLens (Commercial CRQ)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Cloud-Native Enterprise CRQ Pipeline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Execution Architecture: Multi-tenant cloud SaaS with elastic simulation microservices.</a:t>
            </a:r>
            <a:br/>
            <a:r>
              <a:t>• Computational Scale: Runs millions of Monte Carlo iterations asynchronously across distributed cloud nodes.</a:t>
            </a:r>
            <a:br/>
            <a:r>
              <a:t>• Enterprise Connectors: Pre-built API integrations with ServiceNow CMDB, Splunk, Qualys, and RSA Archer.</a:t>
            </a:r>
            <a:br/>
            <a:r>
              <a:t>• Continuous Quantification: Ingests vulnerability and asset telemetry to update risk scores dynamically.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LogicManager (ERM Platform)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Enterprise-Wide Collaborative Scaling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Execution Architecture: Enterprise cloud GRC database with configurable role hierarchies.</a:t>
            </a:r>
            <a:br/>
            <a:r>
              <a:t>• Organizational Scale: Easily scales to tens of thousands of business users submitting risk surveys.</a:t>
            </a:r>
            <a:br/>
            <a:r>
              <a:t>• Ecosystem Integrations: Connects with Slack, Microsoft Teams, Active Directory, Jira, and Workday.</a:t>
            </a:r>
            <a:br/>
            <a:r>
              <a:t>• Data Architecture: Graph-like relational linking between regulatory mandates, risks, controls, and audits.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D6"/>
                </a:solidFill>
                <a:latin typeface="Calibri"/>
              </a:defRPr>
            </a:pPr>
            <a:r>
              <a:t>UNIT 1 - TASK 2: TOOL EXPLORATION</a:t>
            </a:r>
          </a:p>
          <a:p>
            <a:pPr>
              <a:defRPr sz="2400" b="1">
                <a:solidFill>
                  <a:srgbClr val="0B2545"/>
                </a:solidFill>
                <a:latin typeface="Calibri"/>
              </a:defRPr>
            </a:pPr>
            <a:r>
              <a:t>Evaluation Parameter 4: Executive Reporting &amp; Decision Support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OpenFAIR (Open-Source)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Technical Statistical Charts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Visual Outputs: Matplotlib/Seaborn probability density functions (PDF) and cumulative distribution functions (CDF).</a:t>
            </a:r>
            <a:br/>
            <a:r>
              <a:t>• Loss Exceedance Curves: Generates raw percentile curves ($1M, $5M, $10M loss thresholds).</a:t>
            </a:r>
            <a:br/>
            <a:r>
              <a:t>• Stakeholder Usability: Requires technical translation for non-technical executives and board members.</a:t>
            </a:r>
            <a:br/>
            <a:r>
              <a:t>• Report Generation: Manual export of charts to Word, PowerPoint, or LaTeX.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RiskLens (Commercial CRQ)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Board-Ready Financial Dashboards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Financial Risk Framing: Presents risk strictly in currency terms (e.g., '$14.2M Annualized Loss Exposure').</a:t>
            </a:r>
            <a:br/>
            <a:r>
              <a:t>• Executive Action Dashboards: Top 10 Cyber Risk Scenarios, Capital at Risk, and Insurance Adequacy metrics.</a:t>
            </a:r>
            <a:br/>
            <a:r>
              <a:t>• Cost-Benefit ROI Modeling: Visualizes risk reduction per dollar spent across competing security investments.</a:t>
            </a:r>
            <a:br/>
            <a:r>
              <a:t>• Board Presentation Ready: One-click export of executive-ready summary decks and SEC-compliant disclosures.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LogicManager (ERM Platform)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Comprehensive Audit &amp; Governance Heatmaps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Visual Formats: Enterprise heatmaps, risk matrices, compliance radar charts, and audit dashboards.</a:t>
            </a:r>
            <a:br/>
            <a:r>
              <a:t>• Role-Based Views: Granular dashboards for front-line managers, audit committees, and executive directors.</a:t>
            </a:r>
            <a:br/>
            <a:r>
              <a:t>• Deficiency Tracking: Real-time remediation tracking reports with automated aging alerts.</a:t>
            </a:r>
            <a:br/>
            <a:r>
              <a:t>• Regulatory Package Generation: Pre-configured audit packages for external regulators and statutory auditors.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D6"/>
                </a:solidFill>
                <a:latin typeface="Calibri"/>
              </a:defRPr>
            </a:pPr>
            <a:r>
              <a:t>UNIT 1 - TASK 2: TOOL EXPLORATION</a:t>
            </a:r>
          </a:p>
          <a:p>
            <a:pPr>
              <a:defRPr sz="2400" b="1">
                <a:solidFill>
                  <a:srgbClr val="0B2545"/>
                </a:solidFill>
                <a:latin typeface="Calibri"/>
              </a:defRPr>
            </a:pPr>
            <a:r>
              <a:t>Evaluation Parameter 5: Regulatory Compliance &amp; Industry Standards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OpenFAIR (Open-Source)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Pure Methodological Compliance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Standards Alignment: Fully conforms to The Open Group OpenFAIR (O-RA and O-RT standards).</a:t>
            </a:r>
            <a:br/>
            <a:r>
              <a:t>• ISO/NIST Alignment: Provides quantitative defensibility for ISO/IEC 27005 and NIST SP 800-30.</a:t>
            </a:r>
            <a:br/>
            <a:r>
              <a:t>• Audit Trail: Low out-of-the-box auditability; requires strict manual version control (Git) of scripts and input files.</a:t>
            </a:r>
            <a:br/>
            <a:r>
              <a:t>• Regulatory Status: Widely respected by quantitative regulators (OCC, Fed, PRA) when documented rigorously.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RiskLens (Commercial CRQ)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SEC Cyber &amp; Global Financial Mandates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Regulatory Mandates: Specifically designed to satisfy SEC Cybersecurity Disclosure Rules (Item 106 &amp; Form 8-K).</a:t>
            </a:r>
            <a:br/>
            <a:r>
              <a:t>• Financial Standards: Directly supports Basel Committee Operational Risk AMA/SMA and DORA (Digital Operational Resilience Act).</a:t>
            </a:r>
            <a:br/>
            <a:r>
              <a:t>• Evidence &amp; Traceability: Immutable audit logs of model assumptions, SME interviews, and calibration rationale.</a:t>
            </a:r>
            <a:br/>
            <a:r>
              <a:t>• Industry Benchmarks: Standardized risk profiles recognized by cyber insurance underwriters.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LogicManager (ERM Platform)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Universal Regulatory Governance Hub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Framework Libraries: Built-in mapping for SOX 404, ISO 31000, ISO 27001, COSO, HIPAA, GDPR, and PCI-DSS.</a:t>
            </a:r>
            <a:br/>
            <a:r>
              <a:t>• Regulatory Change Management: Automatically flags control gaps when central bank or statutory regulations update.</a:t>
            </a:r>
            <a:br/>
            <a:r>
              <a:t>• Audit Workflows: Complete workpaper documentation, sample testing, and independent audit sign-offs.</a:t>
            </a:r>
            <a:br/>
            <a:r>
              <a:t>• Policy Management: Built-in policy lifecycle management, employee attestations, and exception logging.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D6"/>
                </a:solidFill>
                <a:latin typeface="Calibri"/>
              </a:defRPr>
            </a:pPr>
            <a:r>
              <a:t>UNIT 1 - TASK 2: TOOL EXPLORATION</a:t>
            </a:r>
          </a:p>
          <a:p>
            <a:pPr>
              <a:defRPr sz="2400" b="1">
                <a:solidFill>
                  <a:srgbClr val="0B2545"/>
                </a:solidFill>
                <a:latin typeface="Calibri"/>
              </a:defRPr>
            </a:pPr>
            <a:r>
              <a:t>Comprehensive Evaluation Matrix: 5-Parameter Comparative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77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2864815"/>
                <a:gridCol w="2864815"/>
                <a:gridCol w="2864815"/>
              </a:tblGrid>
              <a:tr h="746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OpenFAIR (Open-Source)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RiskLens (Commercial CRQ)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LogicManager (Enterprise GRC)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 Cost &amp; TCO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★★★★★ (Zero License)</a:t>
                      </a:r>
                    </a:p>
                    <a:p>
                      <a:r>
                        <a:t>$0 license; requires skilled in-house quantitative analysts.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★★☆☆☆ (High SaaS)</a:t>
                      </a:r>
                    </a:p>
                    <a:p>
                      <a:r>
                        <a:t>$50k–$250k/yr; high initial investment, rapid ROI for cyber.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★★★☆☆ (Moderate SaaS)</a:t>
                      </a:r>
                    </a:p>
                    <a:p>
                      <a:r>
                        <a:t>$25k–$120k/yr; cost amortized across enterprise departments.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 Features &amp; Modeling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★★★★☆ (High Math Rigor)</a:t>
                      </a:r>
                    </a:p>
                    <a:p>
                      <a:r>
                        <a:t>Pure Monte Carlo, Beta-PERT, complete parameter control.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★★★★★ (Benchmark CRQ)</a:t>
                      </a:r>
                    </a:p>
                    <a:p>
                      <a:r>
                        <a:t>FAIR Enterprise, empirical loss data, control ROI simulation.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★★★☆☆ (Broad GRC)</a:t>
                      </a:r>
                    </a:p>
                    <a:p>
                      <a:r>
                        <a:t>Qualitative scoring, risk matrices, incident workflows.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 Scalability &amp;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★★☆☆☆ (Limited Multi-user)</a:t>
                      </a:r>
                    </a:p>
                    <a:p>
                      <a:r>
                        <a:t>Local Python/R runtime; requires custom API pipelines.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★★★★☆ (Enterprise SaaS)</a:t>
                      </a:r>
                    </a:p>
                    <a:p>
                      <a:r>
                        <a:t>Elastic cloud simulations, ServiceNow/Splunk integrations.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★★★★★ (Org-wide Scale)</a:t>
                      </a:r>
                    </a:p>
                    <a:p>
                      <a:r>
                        <a:t>Unlimited user surveys, graph-relational database structure.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4. Reporting &amp; Dashboards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★★☆☆☆ (Raw Statistical)</a:t>
                      </a:r>
                    </a:p>
                    <a:p>
                      <a:r>
                        <a:t>Matplotlib curves, histograms; requires manual presentation.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★★★★★ (CFO/Board Ready)</a:t>
                      </a:r>
                    </a:p>
                    <a:p>
                      <a:r>
                        <a:t>Dollarized ALE, Loss Exceedance Curves, Board decks.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★★★★☆ (Audit &amp; Compliance)</a:t>
                      </a:r>
                    </a:p>
                    <a:p>
                      <a:r>
                        <a:t>Heatmaps, compliance dashboards, deficiency trackers.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5. Regulatory &amp;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★★★☆☆ (Standard Compliant)</a:t>
                      </a:r>
                    </a:p>
                    <a:p>
                      <a:r>
                        <a:t>O-RA standard compliant; manual audit documentation.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★★★★★ (SEC / DORA / Basel)</a:t>
                      </a:r>
                    </a:p>
                    <a:p>
                      <a:r>
                        <a:t>SEC Item 106, DORA, Basel Pillar 2 operational risk.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★★★★★ (Universal GRC)</a:t>
                      </a:r>
                    </a:p>
                    <a:p>
                      <a:r>
                        <a:t>SOX 404, ISO 31000, ISO 27001, COSO, HIPAA, GDPR.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D6"/>
                </a:solidFill>
                <a:latin typeface="Calibri"/>
              </a:defRPr>
            </a:pPr>
            <a:r>
              <a:t>UNIT 1 - TASK 2: TOOL EXPLORATION</a:t>
            </a:r>
          </a:p>
          <a:p>
            <a:pPr>
              <a:defRPr sz="2400" b="1">
                <a:solidFill>
                  <a:srgbClr val="0B2545"/>
                </a:solidFill>
                <a:latin typeface="Calibri"/>
              </a:defRPr>
            </a:pPr>
            <a:r>
              <a:t>Strategic Recommendations: Institutional Tool Selection Blueprint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Tier 1: Research &amp; Startups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Choose OpenFAIR (pyfair)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Target Profile: Universities, academic risk labs, fintech startups, and internal quantitative R&amp;D teams.</a:t>
            </a:r>
            <a:br/>
            <a:r>
              <a:t>• Decision Rationale: Maximizes mathematical transparency without capital expenditure.</a:t>
            </a:r>
            <a:br/>
            <a:r>
              <a:t>• Implementation Path: Deploy containerized JupyterHub with `pyfair` and `Evaluate-Core`.</a:t>
            </a:r>
            <a:br/>
            <a:r>
              <a:t>• Key Prerequisite: In-house staff proficient in probability distributions and Python/R.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Tier 2: Systemic Banks &amp; Large Firms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Choose RiskLens (Commercial FAIR)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Target Profile: Tier-1 Banks, listed enterprises, critical infrastructure, and high-scrutiny fintechs.</a:t>
            </a:r>
            <a:br/>
            <a:r>
              <a:t>• Decision Rationale: Satisfies board fiduciary mandates and SEC/central bank cyber disclosure requirements.</a:t>
            </a:r>
            <a:br/>
            <a:r>
              <a:t>• Implementation Path: Integrate RiskLens SaaS with enterprise CMDB and SIEM for automated data ingestion.</a:t>
            </a:r>
            <a:br/>
            <a:r>
              <a:t>• Key Prerequisite: Dedicated enterprise budget and formal C-suite mandate for financial risk quantification.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Calibri"/>
              </a:defRPr>
            </a:pPr>
            <a:r>
              <a:t>Tier 3: Mid-Market &amp; Broad ERM</a:t>
            </a:r>
          </a:p>
          <a:p>
            <a:pPr>
              <a:spcAft>
                <a:spcPts val="800"/>
              </a:spcAft>
              <a:defRPr sz="1100">
                <a:solidFill>
                  <a:srgbClr val="0096D6"/>
                </a:solidFill>
                <a:latin typeface="Calibri"/>
              </a:defRPr>
            </a:pPr>
            <a:r>
              <a:t>Choose LogicManager (GRC Hub)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Target Profile: Regulated mid-market firms, healthcare systems, insurance, and multi-regulatory organizations.</a:t>
            </a:r>
            <a:br/>
            <a:r>
              <a:t>• Decision Rationale: Replaces fragmented spreadsheets with unified audit, compliance, and policy workflows.</a:t>
            </a:r>
            <a:br/>
            <a:r>
              <a:t>• Hybrid Architecture Recommendation: Combine LogicManager as the central GRC registry with OpenFAIR/RiskLens for quantitative cyber modules.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